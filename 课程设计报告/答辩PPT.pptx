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567" y="-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80000" y="-720000"/>
            <a:ext cx="3600000" cy="3600000"/>
          </a:xfrm>
          <a:prstGeom prst="roundRect">
            <a:avLst/>
          </a:prstGeom>
          <a:solidFill>
            <a:srgbClr val="3D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080000" y="4680000"/>
            <a:ext cx="2880000" cy="28800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000" y="144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个人图书借阅管理系统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34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EC0"/>
                </a:solidFill>
                <a:latin typeface="Microsoft YaHei"/>
              </a:defRPr>
            </a:pPr>
            <a:r>
              <a:t>基于 Vue 3 + Spring Boot 的前后端分离 Web 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2951999"/>
            <a:ext cx="2880000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0000" y="3048784"/>
            <a:ext cx="7920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0CAD8"/>
                </a:solidFill>
                <a:latin typeface="Microsoft YaHei"/>
              </a:defRPr>
            </a:pPr>
            <a:r>
              <a:rPr dirty="0"/>
              <a:t>课 </a:t>
            </a:r>
            <a:r>
              <a:rPr dirty="0" err="1"/>
              <a:t>程：网络应用开发综合课程设计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C0CAD8"/>
                </a:solidFill>
                <a:latin typeface="Microsoft YaHei"/>
              </a:defRPr>
            </a:pPr>
            <a:r>
              <a:rPr dirty="0"/>
              <a:t>学 </a:t>
            </a:r>
            <a:r>
              <a:rPr dirty="0" err="1"/>
              <a:t>院：大数据与人工智能学院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C0CAD8"/>
                </a:solidFill>
                <a:latin typeface="Microsoft YaHei"/>
              </a:defRPr>
            </a:pPr>
            <a:r>
              <a:rPr dirty="0"/>
              <a:t>专 </a:t>
            </a:r>
            <a:r>
              <a:rPr dirty="0" err="1"/>
              <a:t>业：网络工程</a:t>
            </a:r>
            <a:r>
              <a:rPr dirty="0"/>
              <a:t>       日 期：2026年6月</a:t>
            </a:r>
            <a:endParaRPr lang="en-US" dirty="0"/>
          </a:p>
          <a:p>
            <a:pPr>
              <a:spcAft>
                <a:spcPts val="600"/>
              </a:spcAft>
              <a:defRPr sz="1600">
                <a:solidFill>
                  <a:srgbClr val="C0CAD8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组长：江泽旭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600">
                <a:solidFill>
                  <a:srgbClr val="C0CAD8"/>
                </a:solidFill>
                <a:latin typeface="Microsoft YaHei"/>
              </a:defRPr>
            </a:pPr>
            <a:r>
              <a:rPr lang="zh-CN" altLang="en-US" sz="1600" dirty="0">
                <a:solidFill>
                  <a:srgbClr val="C0CAD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组员：金家乐、王太平、王浩、周峰</a:t>
            </a:r>
            <a:endParaRPr lang="en-US" altLang="zh-CN" sz="1600" dirty="0">
              <a:solidFill>
                <a:srgbClr val="C0CAD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0000" y="1620000"/>
            <a:ext cx="648000" cy="6480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7999" y="1656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Microsoft YaHei"/>
              </a:defRPr>
            </a:pPr>
            <a:r>
              <a:t>项目背景与意义</a:t>
            </a:r>
          </a:p>
        </p:txBody>
      </p:sp>
      <p:sp>
        <p:nvSpPr>
          <p:cNvPr id="8" name="Oval 7"/>
          <p:cNvSpPr/>
          <p:nvPr/>
        </p:nvSpPr>
        <p:spPr>
          <a:xfrm>
            <a:off x="6300000" y="1620000"/>
            <a:ext cx="648000" cy="6480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7999" y="1656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Microsoft YaHei"/>
              </a:defRPr>
            </a:pPr>
            <a:r>
              <a:t>技术栈与开发环境</a:t>
            </a:r>
          </a:p>
        </p:txBody>
      </p:sp>
      <p:sp>
        <p:nvSpPr>
          <p:cNvPr id="10" name="Oval 9"/>
          <p:cNvSpPr/>
          <p:nvPr/>
        </p:nvSpPr>
        <p:spPr>
          <a:xfrm>
            <a:off x="720000" y="2772000"/>
            <a:ext cx="648000" cy="6480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7999" y="2808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12" name="Oval 11"/>
          <p:cNvSpPr/>
          <p:nvPr/>
        </p:nvSpPr>
        <p:spPr>
          <a:xfrm>
            <a:off x="6300000" y="2772000"/>
            <a:ext cx="648000" cy="6480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7999" y="2808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Microsoft YaHei"/>
              </a:defRPr>
            </a:pPr>
            <a:r>
              <a:t>功能模块展示</a:t>
            </a:r>
          </a:p>
        </p:txBody>
      </p:sp>
      <p:sp>
        <p:nvSpPr>
          <p:cNvPr id="14" name="Oval 13"/>
          <p:cNvSpPr/>
          <p:nvPr/>
        </p:nvSpPr>
        <p:spPr>
          <a:xfrm>
            <a:off x="720000" y="3924000"/>
            <a:ext cx="648000" cy="6480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7999" y="3960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16" name="Oval 15"/>
          <p:cNvSpPr/>
          <p:nvPr/>
        </p:nvSpPr>
        <p:spPr>
          <a:xfrm>
            <a:off x="6300000" y="3924000"/>
            <a:ext cx="648000" cy="6480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7999" y="3960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Microsoft YaHei"/>
              </a:defRPr>
            </a:pPr>
            <a:r>
              <a:t>核心技术亮点</a:t>
            </a:r>
          </a:p>
        </p:txBody>
      </p:sp>
      <p:sp>
        <p:nvSpPr>
          <p:cNvPr id="18" name="Oval 17"/>
          <p:cNvSpPr/>
          <p:nvPr/>
        </p:nvSpPr>
        <p:spPr>
          <a:xfrm>
            <a:off x="720000" y="5076000"/>
            <a:ext cx="648000" cy="6480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7999" y="5112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Microsoft YaHei"/>
              </a:defRPr>
            </a:pPr>
            <a:r>
              <a:t>系统测试</a:t>
            </a:r>
          </a:p>
        </p:txBody>
      </p:sp>
      <p:sp>
        <p:nvSpPr>
          <p:cNvPr id="20" name="Oval 19"/>
          <p:cNvSpPr/>
          <p:nvPr/>
        </p:nvSpPr>
        <p:spPr>
          <a:xfrm>
            <a:off x="6300000" y="5076000"/>
            <a:ext cx="648000" cy="6480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7999" y="5112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02C"/>
                </a:solidFill>
                <a:latin typeface="Microsoft YaHei"/>
              </a:defRPr>
            </a:pPr>
            <a:r>
              <a:t>项目总结与展望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01  项目背景与意义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BACKGROUND &amp;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999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6CB0"/>
                </a:solidFill>
                <a:latin typeface="Microsoft YaHei"/>
              </a:defRPr>
            </a:pPr>
            <a:r>
              <a:t>▎项目背景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999" y="1800000"/>
            <a:ext cx="50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传统图书馆人工登记、手工借阅效率低下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读者日益增长的在线检索、借阅服务需求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前后端分离已成为 Web 开发行业主流架构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课程要求使用 Web 框架实现完整 B/S 系统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团队4人，需要在16天内完成全部开发+文档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A169"/>
                </a:solidFill>
                <a:latin typeface="Microsoft YaHei"/>
              </a:defRPr>
            </a:pPr>
            <a:r>
              <a:t>▎项目意义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1800000"/>
            <a:ext cx="50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为中小型图书馆提供免费的数字化管理工具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深入实践 Spring Boot + MyBatis 四层架构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掌握 Vue 3 Composition API + Element Plus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完整经历"需求→设计→编码→测试→交付"流程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可作为简历项目，展示全栈开发能力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999" y="4860000"/>
            <a:ext cx="2340000" cy="1007999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999" y="4932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999" y="5436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CF0"/>
                </a:solidFill>
                <a:latin typeface="Microsoft YaHei"/>
              </a:defRPr>
            </a:pPr>
            <a:r>
              <a:t>注册用户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7999" y="4860000"/>
            <a:ext cx="2340000" cy="1007999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7999" y="4932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99" y="5436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CF0"/>
                </a:solidFill>
                <a:latin typeface="Microsoft YaHei"/>
              </a:defRPr>
            </a:pPr>
            <a:r>
              <a:t>馆藏图书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999" y="4860000"/>
            <a:ext cx="2340000" cy="1007999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27999" y="4932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999" y="5436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CF0"/>
                </a:solidFill>
                <a:latin typeface="Microsoft YaHei"/>
              </a:defRPr>
            </a:pPr>
            <a:r>
              <a:t>图书分类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7999" y="4860000"/>
            <a:ext cx="2340000" cy="1007999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27999" y="4932000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7999" y="5436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0DCF0"/>
                </a:solidFill>
                <a:latin typeface="Microsoft YaHei"/>
              </a:defRPr>
            </a:pPr>
            <a:r>
              <a:t>RESTful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02  技术栈与开发环境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0000" y="1620000"/>
            <a:ext cx="3420000" cy="1800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000" y="126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6CB0"/>
                </a:solidFill>
                <a:latin typeface="Microsoft YaHei"/>
              </a:defRPr>
            </a:pPr>
            <a:r>
              <a:t>前端技术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980000"/>
            <a:ext cx="32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Vue 3.5 (Composition API + TS)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Element Plus 2.14 (80+组件)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Vite 6.4 极速HMR构建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Vue Router 4 + Pinia 3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Axios + SheetJS (xlsx)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8000" y="1620000"/>
            <a:ext cx="3420000" cy="18000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000" y="126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A169"/>
                </a:solidFill>
                <a:latin typeface="Microsoft YaHei"/>
              </a:defRPr>
            </a:pPr>
            <a:r>
              <a:t>后端技术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000" y="1980000"/>
            <a:ext cx="32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Spring Boot 3.4.4 (@Transactional)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MyBatis 3.5.17 (动态SQL)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Auth0 java-jwt 4.4 (HMAC256)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MySQL 8.0.46 InnoDB (7表)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Maven 3.9 + @Scheduled定时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6000" y="1620000"/>
            <a:ext cx="3420000" cy="1800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6000" y="1260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69E2E"/>
                </a:solidFill>
                <a:latin typeface="Microsoft YaHei"/>
              </a:defRPr>
            </a:pPr>
            <a:r>
              <a:t>开发环境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000" y="1980000"/>
            <a:ext cx="32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Windows 11 + Git 2.54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IntelliJ IDEA 2026.1.3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JDK 26.0.1 / Node 22.14 LTS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MySQL 8.0 Community Server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Postman / Chrome DevTools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03  系统架构设计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999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6CB0"/>
                </a:solidFill>
                <a:latin typeface="Microsoft YaHei"/>
              </a:defRPr>
            </a:pPr>
            <a:r>
              <a:t>▎后端四层架构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999" y="1800000"/>
            <a:ext cx="5040000" cy="7920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0000" y="1872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Controller </a:t>
            </a:r>
            <a:r>
              <a:rPr dirty="0" err="1"/>
              <a:t>控制层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80000" y="2232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接收HTTP请求, 参数校验, 返回JSON (44个API)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999" y="2736000"/>
            <a:ext cx="5040000" cy="79200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0000" y="2808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Service 业务层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3168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@Transactional事务, 核心逻辑, 审计日志记录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999" y="3672000"/>
            <a:ext cx="5040000" cy="7920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0000" y="3744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Mapper 持久层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4104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接口+XML映射, 动态SQL, 分页查询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999" y="4608000"/>
            <a:ext cx="5040000" cy="79200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0000" y="4680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Entity 实体层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5040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7个POJO, MapUnderscoreToCamelCase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A169"/>
                </a:solidFill>
                <a:latin typeface="Microsoft YaHei"/>
              </a:defRPr>
            </a:pPr>
            <a:r>
              <a:t>▎前端架构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000" y="1800000"/>
            <a:ext cx="50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src/api/      → Axios封装, 30+请求函数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src/router/   → 路由配置 + beforeEach权限守卫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src/store/    → Pinia 用户状态管理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src/views/    → 13个Vue页面组件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src/utils/    → request/excel/pinyin工具函数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src/components/ → GlobalSearch全局搜索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999" y="5688000"/>
            <a:ext cx="10620000" cy="6480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0000" y="5796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数据流:  浏览器(Vue SPA) ──HTTP/JSON──▶ Spring Boot REST API ──MyBatis──▶ MySQL 8.0 (InnoDB)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04  功能模块展示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FUNCTION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0000" y="1368000"/>
            <a:ext cx="2592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0000" y="1368000"/>
            <a:ext cx="2592000" cy="10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000" y="1584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6CB0"/>
                </a:solidFill>
                <a:latin typeface="Microsoft YaHei"/>
              </a:defRPr>
            </a:pPr>
            <a:r>
              <a:t>📊 数据概览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088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4项统计 + 最近借阅列表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快捷操作入口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8000" y="1368000"/>
            <a:ext cx="2592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48000" y="1368000"/>
            <a:ext cx="2592000" cy="108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000" y="1584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A169"/>
                </a:solidFill>
                <a:latin typeface="Microsoft YaHei"/>
              </a:defRPr>
            </a:pPr>
            <a:r>
              <a:t>📚 图书管理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000" y="2088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模糊搜索 + 高级筛选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批量操作 + Excel导出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服务端分页(20条/页)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000" y="1368000"/>
            <a:ext cx="2592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56000" y="1368000"/>
            <a:ext cx="2592000" cy="10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4000" y="1584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69E2E"/>
                </a:solidFill>
                <a:latin typeface="Microsoft YaHei"/>
              </a:defRPr>
            </a:pPr>
            <a:r>
              <a:t>👥 用户管理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4000" y="2088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分页列表 + 状态切换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批量删除 + Excel导出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头像上传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4000" y="1368000"/>
            <a:ext cx="2592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4000" y="1368000"/>
            <a:ext cx="2592000" cy="108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72000" y="1584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53E3E"/>
                </a:solidFill>
                <a:latin typeface="Microsoft YaHei"/>
              </a:defRPr>
            </a:pPr>
            <a:r>
              <a:t>📖 借阅管理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2000" y="2088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借书 ≤5本校验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还书逾期罚款计算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状态/时间双筛选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00" y="4068000"/>
            <a:ext cx="2592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0000" y="4068000"/>
            <a:ext cx="2592000" cy="10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8000" y="4284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6CB0"/>
                </a:solidFill>
                <a:latin typeface="Microsoft YaHei"/>
              </a:defRPr>
            </a:pPr>
            <a:r>
              <a:t>📁 分类管理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" y="4788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二级树形结构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排序 + 启用/禁用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批量删除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48000" y="4068000"/>
            <a:ext cx="2592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48000" y="4068000"/>
            <a:ext cx="2592000" cy="108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56000" y="4284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A169"/>
                </a:solidFill>
                <a:latin typeface="Microsoft YaHei"/>
              </a:defRPr>
            </a:pPr>
            <a:r>
              <a:t>📝 审计日志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000" y="4788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全操作记录(操作人/IP/时间)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多维筛选 + 分页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Service层自动记录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6000" y="4068000"/>
            <a:ext cx="2592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56000" y="4068000"/>
            <a:ext cx="2592000" cy="108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4000" y="4284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69E2E"/>
                </a:solidFill>
                <a:latin typeface="Microsoft YaHei"/>
              </a:defRPr>
            </a:pPr>
            <a:r>
              <a:t>🔔 消息通知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4000" y="4788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站内信(借/还/到期提醒)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未读计数 + 已读标记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每日8点定时扫描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4000" y="4068000"/>
            <a:ext cx="2592000" cy="23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964000" y="4068000"/>
            <a:ext cx="2592000" cy="108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72000" y="4284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53E3E"/>
                </a:solidFill>
                <a:latin typeface="Microsoft YaHei"/>
              </a:defRPr>
            </a:pPr>
            <a:r>
              <a:t>🔍 全局搜索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2000" y="4788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Ctrl+K 快速唤起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拼音首字母匹配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Microsoft YaHei"/>
              </a:defRPr>
            </a:pPr>
            <a:r>
              <a:t>菜单+图书+用户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04  界面展示 — 登录 &amp; 数据概览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LOGIN &amp;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999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6CB0"/>
                </a:solidFill>
                <a:latin typeface="Microsoft YaHei"/>
              </a:defRPr>
            </a:pPr>
            <a:r>
              <a:t>▎登录页 (左右分栏设计)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999" y="1728000"/>
            <a:ext cx="50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左侧品牌区：渐变蓝背景 + Logo + 特性展示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右侧表单区：用户名/密码 + 前端非空校验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登录成功 → 按角色(admin/user)跳转不同页面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JWT Token 存入 localStorage, 24h有效期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999" y="3240000"/>
            <a:ext cx="5040000" cy="3240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0000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A169"/>
                </a:solidFill>
                <a:latin typeface="Microsoft YaHei"/>
              </a:defRPr>
            </a:pPr>
            <a:r>
              <a:t>▎数据概览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1728000"/>
            <a:ext cx="50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4个统计卡片：图书总量/借阅中/用户数/逾期数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每卡片独立渐变色图标, 实时数据刷新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最近借阅记录列表 (前10条)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快捷操作入口：添加图书/管理用户/还书/分类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3240000"/>
            <a:ext cx="5040000" cy="3240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7/16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5D05E53-F430-430D-7BD1-A64C55F86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0" y="3462551"/>
            <a:ext cx="4659599" cy="278874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7D291D1-1F01-73E7-F22D-954D39DB9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42" y="3465626"/>
            <a:ext cx="4772714" cy="27887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04  界面展示 — 图书 &amp; 用户管理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BOOK &amp; USER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999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6CB0"/>
                </a:solidFill>
                <a:latin typeface="Microsoft YaHei"/>
              </a:defRPr>
            </a:pPr>
            <a:r>
              <a:t>▎图书管理 (含分页/筛选/批量)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999" y="1728000"/>
            <a:ext cx="50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搜索栏：关键词 + 分类下拉 + 库存状态 + 时间范围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批量操作：批量删除/修改分类 + Excel导出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el-pagination 分页, 每页20条, 3000本书流畅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编辑对话框：el-tree-select 选择二级分类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999" y="3060000"/>
            <a:ext cx="5040000" cy="3420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0000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A169"/>
                </a:solidFill>
                <a:latin typeface="Microsoft YaHei"/>
              </a:defRPr>
            </a:pPr>
            <a:r>
              <a:t>▎用户管理 (含批量/导出)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1728000"/>
            <a:ext cx="50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分页表格：头像</a:t>
            </a:r>
            <a:r>
              <a:rPr dirty="0"/>
              <a:t>/</a:t>
            </a:r>
            <a:r>
              <a:rPr dirty="0" err="1"/>
              <a:t>用户名</a:t>
            </a:r>
            <a:r>
              <a:rPr dirty="0"/>
              <a:t>/</a:t>
            </a:r>
            <a:r>
              <a:rPr dirty="0" err="1"/>
              <a:t>姓名</a:t>
            </a:r>
            <a:r>
              <a:rPr dirty="0"/>
              <a:t>/</a:t>
            </a:r>
            <a:r>
              <a:rPr dirty="0" err="1"/>
              <a:t>手机</a:t>
            </a:r>
            <a:r>
              <a:rPr dirty="0"/>
              <a:t>/</a:t>
            </a:r>
            <a:r>
              <a:rPr dirty="0" err="1"/>
              <a:t>邮箱</a:t>
            </a:r>
            <a:r>
              <a:rPr dirty="0"/>
              <a:t>/</a:t>
            </a:r>
            <a:r>
              <a:rPr dirty="0" err="1"/>
              <a:t>角色</a:t>
            </a:r>
            <a:r>
              <a:rPr dirty="0"/>
              <a:t>/</a:t>
            </a:r>
            <a:r>
              <a:rPr dirty="0" err="1"/>
              <a:t>状态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角色标签</a:t>
            </a:r>
            <a:r>
              <a:rPr dirty="0"/>
              <a:t>(</a:t>
            </a:r>
            <a:r>
              <a:rPr dirty="0" err="1"/>
              <a:t>管理员红</a:t>
            </a:r>
            <a:r>
              <a:rPr dirty="0"/>
              <a:t>/</a:t>
            </a:r>
            <a:r>
              <a:rPr dirty="0" err="1"/>
              <a:t>用户蓝</a:t>
            </a:r>
            <a:r>
              <a:rPr dirty="0"/>
              <a:t>) + </a:t>
            </a:r>
            <a:r>
              <a:rPr dirty="0" err="1"/>
              <a:t>状态标签</a:t>
            </a:r>
            <a:r>
              <a:rPr dirty="0"/>
              <a:t>(</a:t>
            </a:r>
            <a:r>
              <a:rPr dirty="0" err="1"/>
              <a:t>正常绿</a:t>
            </a:r>
            <a:r>
              <a:rPr dirty="0"/>
              <a:t>/</a:t>
            </a:r>
            <a:r>
              <a:rPr dirty="0" err="1"/>
              <a:t>禁用灰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单个操作：启用</a:t>
            </a:r>
            <a:r>
              <a:rPr dirty="0"/>
              <a:t>/</a:t>
            </a:r>
            <a:r>
              <a:rPr dirty="0" err="1"/>
              <a:t>禁用切换</a:t>
            </a:r>
            <a:r>
              <a:rPr dirty="0"/>
              <a:t> + </a:t>
            </a:r>
            <a:r>
              <a:rPr dirty="0" err="1"/>
              <a:t>删除</a:t>
            </a:r>
            <a:r>
              <a:rPr dirty="0"/>
              <a:t>(</a:t>
            </a:r>
            <a:r>
              <a:rPr dirty="0" err="1"/>
              <a:t>二次确认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批量操作：批量删除</a:t>
            </a:r>
            <a:r>
              <a:rPr dirty="0"/>
              <a:t> + </a:t>
            </a:r>
            <a:r>
              <a:rPr dirty="0" err="1"/>
              <a:t>导出Excel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300000" y="3060000"/>
            <a:ext cx="5040000" cy="3420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8/16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F6A5F73-1FA9-8F2C-EF10-83EF23F6B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30" y="3429000"/>
            <a:ext cx="4952974" cy="271002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39A96DE-D124-C260-581D-789BAEA1D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539" y="3429000"/>
            <a:ext cx="4946922" cy="27100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04  界面展示 — 分类 &amp; 借阅管理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CATEGORY &amp; BORROW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999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6CB0"/>
                </a:solidFill>
                <a:latin typeface="Microsoft YaHei"/>
              </a:defRPr>
            </a:pPr>
            <a:r>
              <a:t>▎分类管理 (二级树形)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999" y="1728000"/>
            <a:ext cx="50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8个一级分类 + 22个二级分类, 树形表格展示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el-table tree-props 原生展开/折叠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支持排序(sort_order) + 启用/禁用状态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t>• 添加时 el-tree-select 选择父级分类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999" y="3060000"/>
            <a:ext cx="5040000" cy="3420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0000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A169"/>
                </a:solidFill>
                <a:latin typeface="Microsoft YaHei"/>
              </a:defRPr>
            </a:pPr>
            <a:r>
              <a:t>▎借阅管理 (含罚款)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1728000"/>
            <a:ext cx="50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状态筛选：全部</a:t>
            </a:r>
            <a:r>
              <a:rPr dirty="0"/>
              <a:t>/</a:t>
            </a:r>
            <a:r>
              <a:rPr dirty="0" err="1"/>
              <a:t>借阅中</a:t>
            </a:r>
            <a:r>
              <a:rPr dirty="0"/>
              <a:t>/</a:t>
            </a:r>
            <a:r>
              <a:rPr dirty="0" err="1"/>
              <a:t>已逾期</a:t>
            </a:r>
            <a:r>
              <a:rPr dirty="0"/>
              <a:t>/</a:t>
            </a:r>
            <a:r>
              <a:rPr dirty="0" err="1"/>
              <a:t>已归还</a:t>
            </a:r>
            <a:r>
              <a:rPr dirty="0"/>
              <a:t> (</a:t>
            </a:r>
            <a:r>
              <a:rPr dirty="0" err="1"/>
              <a:t>el</a:t>
            </a:r>
            <a:r>
              <a:rPr dirty="0"/>
              <a:t>-radio-group)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时间范围选择器</a:t>
            </a:r>
            <a:r>
              <a:rPr dirty="0"/>
              <a:t> + </a:t>
            </a:r>
            <a:r>
              <a:rPr dirty="0" err="1"/>
              <a:t>服务端分页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还书自动判断逾期</a:t>
            </a:r>
            <a:r>
              <a:rPr dirty="0"/>
              <a:t> → </a:t>
            </a:r>
            <a:r>
              <a:rPr dirty="0" err="1"/>
              <a:t>计算罚款</a:t>
            </a:r>
            <a:r>
              <a:rPr dirty="0"/>
              <a:t> (0.5元/天)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@Scheduled 每日8点扫描到期记录, </a:t>
            </a:r>
            <a:r>
              <a:rPr dirty="0" err="1"/>
              <a:t>推送提醒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300000" y="3060000"/>
            <a:ext cx="5040000" cy="3420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9/16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96A018C-5AF9-2F92-32C2-CB402BD49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052" y="3428999"/>
            <a:ext cx="4856819" cy="272663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C80EEAD-FBCE-B3D4-514D-068476A06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129" y="3434824"/>
            <a:ext cx="4878693" cy="27208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04  界面展示 — 审计日志 &amp; 用户端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AUDIT LOG &amp; USER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999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6CB0"/>
                </a:solidFill>
                <a:latin typeface="Microsoft YaHei"/>
              </a:defRPr>
            </a:pPr>
            <a:r>
              <a:t>▎审计日志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999" y="1728000"/>
            <a:ext cx="50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全操作记录</a:t>
            </a:r>
            <a:r>
              <a:rPr dirty="0"/>
              <a:t>: </a:t>
            </a:r>
            <a:r>
              <a:rPr dirty="0" err="1"/>
              <a:t>操作人</a:t>
            </a:r>
            <a:r>
              <a:rPr dirty="0"/>
              <a:t>/</a:t>
            </a:r>
            <a:r>
              <a:rPr dirty="0" err="1"/>
              <a:t>类型</a:t>
            </a:r>
            <a:r>
              <a:rPr dirty="0"/>
              <a:t>/</a:t>
            </a:r>
            <a:r>
              <a:rPr dirty="0" err="1"/>
              <a:t>目标</a:t>
            </a:r>
            <a:r>
              <a:rPr dirty="0"/>
              <a:t>/IP/</a:t>
            </a:r>
            <a:r>
              <a:rPr dirty="0" err="1"/>
              <a:t>时间</a:t>
            </a:r>
            <a:r>
              <a:rPr dirty="0"/>
              <a:t>/</a:t>
            </a:r>
            <a:r>
              <a:rPr dirty="0" err="1"/>
              <a:t>详情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筛选</a:t>
            </a:r>
            <a:r>
              <a:rPr dirty="0"/>
              <a:t>: </a:t>
            </a:r>
            <a:r>
              <a:rPr dirty="0" err="1"/>
              <a:t>操作类型</a:t>
            </a:r>
            <a:r>
              <a:rPr dirty="0"/>
              <a:t> + </a:t>
            </a:r>
            <a:r>
              <a:rPr dirty="0" err="1"/>
              <a:t>目标类型</a:t>
            </a:r>
            <a:r>
              <a:rPr dirty="0"/>
              <a:t> + </a:t>
            </a:r>
            <a:r>
              <a:rPr dirty="0" err="1"/>
              <a:t>操作人</a:t>
            </a:r>
            <a:r>
              <a:rPr dirty="0"/>
              <a:t> + </a:t>
            </a:r>
            <a:r>
              <a:rPr dirty="0" err="1"/>
              <a:t>时间范围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Service层自动记录</a:t>
            </a:r>
            <a:r>
              <a:rPr dirty="0"/>
              <a:t>, </a:t>
            </a:r>
            <a:r>
              <a:rPr dirty="0" err="1"/>
              <a:t>非侵入式设计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RequestContextHolder获取操作用户上下文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27999" y="3060000"/>
            <a:ext cx="5040000" cy="3420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0000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A169"/>
                </a:solidFill>
                <a:latin typeface="Microsoft YaHei"/>
              </a:defRPr>
            </a:pPr>
            <a:r>
              <a:rPr dirty="0"/>
              <a:t>▎</a:t>
            </a:r>
            <a:r>
              <a:rPr dirty="0" err="1"/>
              <a:t>用户端</a:t>
            </a:r>
            <a:r>
              <a:rPr dirty="0"/>
              <a:t> (</a:t>
            </a:r>
            <a:r>
              <a:rPr dirty="0" err="1"/>
              <a:t>图书浏览</a:t>
            </a:r>
            <a:r>
              <a:rPr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1728000"/>
            <a:ext cx="50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4列卡片网格, 8种渐变色封面随机轮换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关键词搜索</a:t>
            </a:r>
            <a:r>
              <a:rPr dirty="0"/>
              <a:t> + </a:t>
            </a:r>
            <a:r>
              <a:rPr dirty="0" err="1"/>
              <a:t>分类下拉筛选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库存</a:t>
            </a:r>
            <a:r>
              <a:rPr dirty="0"/>
              <a:t>=0时显示"已借完"标签, </a:t>
            </a:r>
            <a:r>
              <a:rPr dirty="0" err="1"/>
              <a:t>按钮自动禁用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• </a:t>
            </a:r>
            <a:r>
              <a:rPr dirty="0" err="1"/>
              <a:t>借阅按钮调用</a:t>
            </a:r>
            <a:r>
              <a:rPr dirty="0"/>
              <a:t> borrow API, </a:t>
            </a:r>
            <a:r>
              <a:rPr dirty="0" err="1"/>
              <a:t>实时减库存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300000" y="3060000"/>
            <a:ext cx="5040000" cy="3420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10/16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EE9956C-10BD-8A50-310B-6ACADA9CD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4874210" cy="273639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18B528E-43CF-88AD-76CB-69615D71B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89" y="3428999"/>
            <a:ext cx="4902112" cy="27363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05  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999" y="1296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202C"/>
                </a:solidFill>
                <a:latin typeface="Microsoft YaHei"/>
              </a:defRPr>
            </a:pPr>
            <a:r>
              <a:t>▎实体关系: User ─1:N─ BorrowRecord ─N:1─ Book ─N:1─ Category | Category自引用(parent_id) | Notification ─N:1─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1655999"/>
            <a:ext cx="5328000" cy="1152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0000" y="1655999"/>
            <a:ext cx="108000" cy="115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8000" y="1691999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B0"/>
                </a:solidFill>
                <a:latin typeface="Microsoft YaHei"/>
              </a:defRPr>
            </a:pPr>
            <a:r>
              <a:t>user (500条)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" y="2051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t>字段: 用户名/密码(MD5)/角色/状态/头像/手机/邮箱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2375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约束: PRIMARY KEY(id), UNIQUE(username)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0000" y="1655999"/>
            <a:ext cx="5328000" cy="1152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0000" y="1655999"/>
            <a:ext cx="108000" cy="1152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8000" y="1691999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A169"/>
                </a:solidFill>
                <a:latin typeface="Microsoft YaHei"/>
              </a:defRPr>
            </a:pPr>
            <a:r>
              <a:t>book (3,000条)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8000" y="2051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t>字段: ISBN/书名/作者/出版社/库存/借阅次数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8000" y="2375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约束: FK(category_id)→category, UNIQUE(isbn)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3023999"/>
            <a:ext cx="5328000" cy="1152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0000" y="3023999"/>
            <a:ext cx="108000" cy="1152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8000" y="3059999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69E2E"/>
                </a:solidFill>
                <a:latin typeface="Microsoft YaHei"/>
              </a:defRPr>
            </a:pPr>
            <a:r>
              <a:t>category (30条)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000" y="3419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t>字段: 名称/描述/parent_id/排序/状态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000" y="3743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约束: parent_id 自引用(NULL=一级)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0000" y="3023999"/>
            <a:ext cx="5328000" cy="1152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0000" y="3023999"/>
            <a:ext cx="108000" cy="1152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8000" y="3059999"/>
            <a:ext cx="2390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Microsoft YaHei"/>
              </a:defRPr>
            </a:pPr>
            <a:r>
              <a:rPr dirty="0" err="1"/>
              <a:t>borrow_record</a:t>
            </a:r>
            <a:r>
              <a:rPr dirty="0"/>
              <a:t> (600</a:t>
            </a:r>
            <a:r>
              <a:rPr lang="zh-CN" altLang="en-US" dirty="0"/>
              <a:t>条</a:t>
            </a:r>
            <a:r>
              <a:rPr dirty="0"/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8000" y="3419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字段</a:t>
            </a:r>
            <a:r>
              <a:rPr dirty="0"/>
              <a:t>: </a:t>
            </a:r>
            <a:r>
              <a:rPr dirty="0" err="1"/>
              <a:t>用户</a:t>
            </a:r>
            <a:r>
              <a:rPr dirty="0"/>
              <a:t>/</a:t>
            </a:r>
            <a:r>
              <a:rPr dirty="0" err="1"/>
              <a:t>图书</a:t>
            </a:r>
            <a:r>
              <a:rPr dirty="0"/>
              <a:t>/</a:t>
            </a:r>
            <a:r>
              <a:rPr dirty="0" err="1"/>
              <a:t>借阅时间</a:t>
            </a:r>
            <a:r>
              <a:rPr dirty="0"/>
              <a:t>/</a:t>
            </a:r>
            <a:r>
              <a:rPr dirty="0" err="1"/>
              <a:t>应还时间</a:t>
            </a:r>
            <a:r>
              <a:rPr dirty="0"/>
              <a:t>/</a:t>
            </a:r>
            <a:r>
              <a:rPr dirty="0" err="1"/>
              <a:t>归还时间</a:t>
            </a:r>
            <a:r>
              <a:rPr dirty="0"/>
              <a:t>/</a:t>
            </a:r>
            <a:r>
              <a:rPr dirty="0" err="1"/>
              <a:t>状态</a:t>
            </a:r>
            <a:r>
              <a:rPr dirty="0"/>
              <a:t>/</a:t>
            </a:r>
            <a:r>
              <a:rPr dirty="0" err="1"/>
              <a:t>罚款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588000" y="3743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约束: FK(user_id,book_id)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0000" y="4391999"/>
            <a:ext cx="5328000" cy="1152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20000" y="4391999"/>
            <a:ext cx="108000" cy="115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8000" y="4427999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B0"/>
                </a:solidFill>
                <a:latin typeface="Microsoft YaHei"/>
              </a:defRPr>
            </a:pPr>
            <a:r>
              <a:t>audit_log (600条)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000" y="4787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t>字段: 操作人/操作类型(CREATE/UPDATE/DELETE)/目标类型/IP/详情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000" y="5111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约束: 无外键, 独立记录表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000" y="4391999"/>
            <a:ext cx="5328000" cy="1152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0000" y="4391999"/>
            <a:ext cx="108000" cy="1152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8000" y="4427999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A169"/>
                </a:solidFill>
                <a:latin typeface="Microsoft YaHei"/>
              </a:defRPr>
            </a:pPr>
            <a:r>
              <a:t>notification (600条)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8000" y="4787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t>字段: 用户/类型(borrow/return/warn)/标题/内容/已读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8000" y="5111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约束: FK(user_id)→user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0000" y="5759999"/>
            <a:ext cx="5328000" cy="1152000"/>
          </a:xfrm>
          <a:prstGeom prst="round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0000" y="5759999"/>
            <a:ext cx="108000" cy="1152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8000" y="5795999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69E2E"/>
                </a:solidFill>
                <a:latin typeface="Microsoft YaHei"/>
              </a:defRPr>
            </a:pPr>
            <a:r>
              <a:t>fine_rule (1条)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000" y="6155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02C"/>
                </a:solidFill>
                <a:latin typeface="Microsoft YaHei"/>
              </a:defRPr>
            </a:pPr>
            <a:r>
              <a:t>字段: 每日罚金(0.50元)/最高上限(100元)/状态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000" y="6479999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约束: 单行配置表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06  核心技术亮点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TECHNICAL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0000" y="1368000"/>
            <a:ext cx="5328000" cy="115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0000" y="1368000"/>
            <a:ext cx="108000" cy="115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8000" y="144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6CB0"/>
                </a:solidFill>
                <a:latin typeface="Microsoft YaHei"/>
              </a:defRPr>
            </a:pPr>
            <a:r>
              <a:t>JWT 无状态认证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" y="1800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Auth0 java-jwt, HMAC256签名</a:t>
            </a:r>
            <a:br/>
            <a:r>
              <a:t>JwtInterceptor 统一拦截</a:t>
            </a:r>
            <a:br/>
            <a:r>
              <a:t>白名单路径 + 请求属性注入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1368000"/>
            <a:ext cx="5328000" cy="115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0000" y="1368000"/>
            <a:ext cx="108000" cy="1152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8000" y="1440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A169"/>
                </a:solidFill>
                <a:latin typeface="Microsoft YaHei"/>
              </a:defRPr>
            </a:pPr>
            <a:r>
              <a:t>服务端分页查询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8000" y="1800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MySQL LIMIT/OFFSET + COUNT</a:t>
            </a:r>
            <a:br/>
            <a:r>
              <a:t>PageResult&lt;T&gt; 统一返回格式</a:t>
            </a:r>
            <a:br/>
            <a:r>
              <a:t>3000本书→20条/页, &lt;500ms, 150x提升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2736000"/>
            <a:ext cx="5328000" cy="115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0000" y="2736000"/>
            <a:ext cx="108000" cy="1152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8000" y="2808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69E2E"/>
                </a:solidFill>
                <a:latin typeface="Microsoft YaHei"/>
              </a:defRPr>
            </a:pPr>
            <a:r>
              <a:t>审计日志全覆盖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8000" y="3168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Service层自动记录 (非侵入)</a:t>
            </a:r>
            <a:br/>
            <a:r>
              <a:t>RequestContextHolder 获取用户</a:t>
            </a:r>
            <a:br/>
            <a:r>
              <a:t>操作人/IP/时间/详情, 多维筛选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000" y="2736000"/>
            <a:ext cx="5328000" cy="115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0000" y="2736000"/>
            <a:ext cx="108000" cy="1152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8000" y="2808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53E3E"/>
                </a:solidFill>
                <a:latin typeface="Microsoft YaHei"/>
              </a:defRPr>
            </a:pPr>
            <a:r>
              <a:t>消息通知+定时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000" y="3168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站内信 (借/还/到期提醒)</a:t>
            </a:r>
            <a:br/>
            <a:r>
              <a:t>@Scheduled cron 每日8:00执行</a:t>
            </a:r>
            <a:br/>
            <a:r>
              <a:t>未读badge + 已读标记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000" y="4104000"/>
            <a:ext cx="5328000" cy="115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0000" y="4104000"/>
            <a:ext cx="108000" cy="115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8000" y="4176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6CB0"/>
                </a:solidFill>
                <a:latin typeface="Microsoft YaHei"/>
              </a:defRPr>
            </a:pPr>
            <a:r>
              <a:t>全局搜索 Ctrl+K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000" y="4536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拼音首字母匹配 (pinyin.ts)</a:t>
            </a:r>
            <a:br/>
            <a:r>
              <a:t>菜单 + 图书 + 用户 三类结果</a:t>
            </a:r>
            <a:br/>
            <a:r>
              <a:t>方向键导航 + Enter跳转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000" y="4104000"/>
            <a:ext cx="5328000" cy="115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0000" y="4104000"/>
            <a:ext cx="108000" cy="11520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8000" y="4176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A169"/>
                </a:solidFill>
                <a:latin typeface="Microsoft YaHei"/>
              </a:defRPr>
            </a:pPr>
            <a:r>
              <a:t>二级树形分类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8000" y="4536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category.parent_id 自引用</a:t>
            </a:r>
            <a:br/>
            <a:r>
              <a:t>Service递归组装树</a:t>
            </a:r>
            <a:br/>
            <a:r>
              <a:t>前端 el-table tree-props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000" y="5472000"/>
            <a:ext cx="5328000" cy="115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0000" y="5472000"/>
            <a:ext cx="108000" cy="115200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8000" y="5544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69E2E"/>
                </a:solidFill>
                <a:latin typeface="Microsoft YaHei"/>
              </a:defRPr>
            </a:pPr>
            <a:r>
              <a:t>Excel导出+批量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000" y="5904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SheetJS前端浏览器端导出</a:t>
            </a:r>
            <a:br/>
            <a:r>
              <a:t>批量删除/修改分类</a:t>
            </a:r>
            <a:br/>
            <a:r>
              <a:t>MyBatis &lt;foreach&gt; 动态SQL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0000" y="5472000"/>
            <a:ext cx="5328000" cy="115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0000" y="5472000"/>
            <a:ext cx="108000" cy="1152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8000" y="5544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53E3E"/>
                </a:solidFill>
                <a:latin typeface="Microsoft YaHei"/>
              </a:defRPr>
            </a:pPr>
            <a:r>
              <a:t>借阅事务+罚款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8000" y="5904000"/>
            <a:ext cx="48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Microsoft YaHei"/>
              </a:defRPr>
            </a:pPr>
            <a:r>
              <a:t>@Transactional 保证一致性</a:t>
            </a:r>
            <a:br/>
            <a:r>
              <a:t>借书≤5本 + 库存校验</a:t>
            </a:r>
            <a:br/>
            <a:r>
              <a:t>还书自动逾期天数×费率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06  技术难点与解决方案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0000" y="1296000"/>
            <a:ext cx="108000" cy="100799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0000" y="1296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6CB0"/>
                </a:solidFill>
                <a:latin typeface="Microsoft YaHei"/>
              </a:defRPr>
            </a:pPr>
            <a:r>
              <a:t>大数据量卡顿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1620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3E3E"/>
                </a:solidFill>
                <a:latin typeface="Microsoft YaHei"/>
              </a:defRPr>
            </a:pPr>
            <a:r>
              <a:t>❌ 3000条数据一次性加载→页面卡顿崩溃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190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A169"/>
                </a:solidFill>
                <a:latin typeface="Microsoft YaHei"/>
              </a:defRPr>
            </a:pPr>
            <a:r>
              <a:t>✅ 实现服务端分页(LIMIT/OFFSET+COUNT), 每页20条; el-pagination组件配合Axios传参, 单次响应&lt;500ms, 性能提升150倍。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448000"/>
            <a:ext cx="108000" cy="100799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0000" y="2448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6CB0"/>
                </a:solidFill>
                <a:latin typeface="Microsoft YaHei"/>
              </a:defRPr>
            </a:pPr>
            <a:r>
              <a:t>二级分类树形展示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2772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3E3E"/>
                </a:solidFill>
                <a:latin typeface="Microsoft YaHei"/>
              </a:defRPr>
            </a:pPr>
            <a:r>
              <a:t>❌ 如何在前后端高效处理parent_id树形结构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306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A169"/>
                </a:solidFill>
                <a:latin typeface="Microsoft YaHei"/>
              </a:defRPr>
            </a:pPr>
            <a:r>
              <a:t>✅ 后端Service递归组装Category树(筛选parent_id=null作为根→递归buildChildren), 返回JSON; 前端el-table tree-props原生渲染。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3600000"/>
            <a:ext cx="108000" cy="100799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0000" y="3600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6CB0"/>
                </a:solidFill>
                <a:latin typeface="Microsoft YaHei"/>
              </a:defRPr>
            </a:pPr>
            <a:r>
              <a:t>借阅事务一致性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3924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3E3E"/>
                </a:solidFill>
                <a:latin typeface="Microsoft YaHei"/>
              </a:defRPr>
            </a:pPr>
            <a:r>
              <a:t>❌ 借书需同时:减库存+建记录+审计日志+推送通知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421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A169"/>
                </a:solidFill>
                <a:latin typeface="Microsoft YaHei"/>
              </a:defRPr>
            </a:pPr>
            <a:r>
              <a:t>✅ @Transactional确保多表操作的原子性; 核心业务失败自动回滚; 审计和通知在业务成功后异步写入, 不阻塞主流程。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4752000"/>
            <a:ext cx="108000" cy="100799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0000" y="4752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6CB0"/>
                </a:solidFill>
                <a:latin typeface="Microsoft YaHei"/>
              </a:defRPr>
            </a:pPr>
            <a:r>
              <a:t>JWT安全与跨域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5076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3E3E"/>
                </a:solidFill>
                <a:latin typeface="Microsoft YaHei"/>
              </a:defRPr>
            </a:pPr>
            <a:r>
              <a:t>❌ 前后端分离下如何安全传递身份 + CORS跨域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000" y="536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A169"/>
                </a:solidFill>
                <a:latin typeface="Microsoft YaHei"/>
              </a:defRPr>
            </a:pPr>
            <a:r>
              <a:t>✅ Auth0 java-jwt生成/验证Token(HMAC256,24h过期); JwtInterceptor拦截非白名单API; WebConfig全局CORS放行+白名单配置。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5904000"/>
            <a:ext cx="108000" cy="100799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0000" y="5904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6CB0"/>
                </a:solidFill>
                <a:latin typeface="Microsoft YaHei"/>
              </a:defRPr>
            </a:pPr>
            <a:r>
              <a:t>分类查询N+1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000" y="6228000"/>
            <a:ext cx="100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3E3E"/>
                </a:solidFill>
                <a:latin typeface="Microsoft YaHei"/>
              </a:defRPr>
            </a:pPr>
            <a:r>
              <a:t>❌ BookMapper.resultMap中&lt;association&gt;子查询导致每个book额外查一次category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" y="651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A169"/>
                </a:solidFill>
                <a:latin typeface="Microsoft YaHei"/>
              </a:defRPr>
            </a:pPr>
            <a:r>
              <a:t>✅ 改为LEFT JOIN + resultMap中直接映射category_name列(不再依赖&lt;association&gt;子查询), 查询次数从3001次降至1次。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07  系统测试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SYSTEM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999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6CB0"/>
                </a:solidFill>
                <a:latin typeface="Microsoft YaHei"/>
              </a:defRPr>
            </a:pPr>
            <a:r>
              <a:rPr dirty="0"/>
              <a:t>▎</a:t>
            </a:r>
            <a:r>
              <a:rPr dirty="0" err="1"/>
              <a:t>功能测试</a:t>
            </a:r>
            <a:r>
              <a:rPr dirty="0"/>
              <a:t> (</a:t>
            </a:r>
            <a:r>
              <a:rPr dirty="0" err="1"/>
              <a:t>黑盒</a:t>
            </a:r>
            <a:r>
              <a:rPr dirty="0"/>
              <a:t>, 12项全部通过)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999" y="1728000"/>
            <a:ext cx="504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TC-01 </a:t>
            </a:r>
            <a:r>
              <a:rPr dirty="0" err="1"/>
              <a:t>正确账号密码</a:t>
            </a:r>
            <a:r>
              <a:rPr dirty="0"/>
              <a:t> → </a:t>
            </a:r>
            <a:r>
              <a:rPr dirty="0" err="1"/>
              <a:t>登录成功</a:t>
            </a:r>
            <a:r>
              <a:rPr dirty="0"/>
              <a:t>, </a:t>
            </a:r>
            <a:r>
              <a:rPr dirty="0" err="1"/>
              <a:t>跳转Dashboard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TC-02 </a:t>
            </a:r>
            <a:r>
              <a:rPr dirty="0" err="1"/>
              <a:t>错误密码</a:t>
            </a:r>
            <a:r>
              <a:rPr dirty="0"/>
              <a:t> → </a:t>
            </a:r>
            <a:r>
              <a:rPr dirty="0" err="1"/>
              <a:t>提示"密码错误</a:t>
            </a:r>
            <a:r>
              <a:rPr dirty="0"/>
              <a:t>"</a:t>
            </a:r>
          </a:p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TC-03 </a:t>
            </a:r>
            <a:r>
              <a:rPr dirty="0" err="1"/>
              <a:t>空表单提交</a:t>
            </a:r>
            <a:r>
              <a:rPr dirty="0"/>
              <a:t> → </a:t>
            </a:r>
            <a:r>
              <a:rPr dirty="0" err="1"/>
              <a:t>前端校验拦截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TC-04 </a:t>
            </a:r>
            <a:r>
              <a:rPr dirty="0" err="1"/>
              <a:t>添加图书</a:t>
            </a:r>
            <a:r>
              <a:rPr dirty="0"/>
              <a:t>(</a:t>
            </a:r>
            <a:r>
              <a:rPr dirty="0" err="1"/>
              <a:t>完整字段</a:t>
            </a:r>
            <a:r>
              <a:rPr dirty="0"/>
              <a:t>) → </a:t>
            </a:r>
            <a:r>
              <a:rPr dirty="0" err="1"/>
              <a:t>列表新增记录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TC-05 </a:t>
            </a:r>
            <a:r>
              <a:rPr dirty="0" err="1"/>
              <a:t>搜索"Java</a:t>
            </a:r>
            <a:r>
              <a:rPr dirty="0"/>
              <a:t>" → </a:t>
            </a:r>
            <a:r>
              <a:rPr dirty="0" err="1"/>
              <a:t>返回匹配的图书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TC-06 </a:t>
            </a:r>
            <a:r>
              <a:rPr dirty="0" err="1"/>
              <a:t>批量删除</a:t>
            </a:r>
            <a:r>
              <a:rPr dirty="0"/>
              <a:t>(勾选3本) → </a:t>
            </a:r>
            <a:r>
              <a:rPr dirty="0" err="1"/>
              <a:t>确认后删除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TC-07 </a:t>
            </a:r>
            <a:r>
              <a:rPr dirty="0" err="1"/>
              <a:t>用户借书</a:t>
            </a:r>
            <a:r>
              <a:rPr dirty="0"/>
              <a:t> → 库存-1, </a:t>
            </a:r>
            <a:r>
              <a:rPr dirty="0" err="1"/>
              <a:t>推送成功通知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TC-08 借第6本书 → "每人最多借阅5本"</a:t>
            </a:r>
          </a:p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TC-09 </a:t>
            </a:r>
            <a:r>
              <a:rPr dirty="0" err="1"/>
              <a:t>添加二级分类</a:t>
            </a:r>
            <a:r>
              <a:rPr dirty="0"/>
              <a:t> → </a:t>
            </a:r>
            <a:r>
              <a:rPr dirty="0" err="1"/>
              <a:t>树形表格正确展示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TC-10 </a:t>
            </a:r>
            <a:r>
              <a:rPr dirty="0" err="1"/>
              <a:t>删除任意记录</a:t>
            </a:r>
            <a:r>
              <a:rPr dirty="0"/>
              <a:t> → </a:t>
            </a:r>
            <a:r>
              <a:rPr dirty="0" err="1"/>
              <a:t>审计日志新增对应记录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TC-11 </a:t>
            </a:r>
            <a:r>
              <a:rPr dirty="0" err="1"/>
              <a:t>Ctrl+K→输入拼音→正确检索菜单</a:t>
            </a:r>
            <a:r>
              <a:rPr dirty="0"/>
              <a:t>/书/</a:t>
            </a:r>
            <a:r>
              <a:rPr dirty="0" err="1"/>
              <a:t>用户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✅ TC-12 </a:t>
            </a:r>
            <a:r>
              <a:rPr dirty="0" err="1"/>
              <a:t>逾期还书</a:t>
            </a:r>
            <a:r>
              <a:rPr dirty="0"/>
              <a:t> → </a:t>
            </a:r>
            <a:r>
              <a:rPr dirty="0" err="1"/>
              <a:t>自动计算罚款金额</a:t>
            </a:r>
            <a:r>
              <a:rPr dirty="0"/>
              <a:t>(0.5元/天)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A169"/>
                </a:solidFill>
                <a:latin typeface="Microsoft YaHei"/>
              </a:defRPr>
            </a:pPr>
            <a:r>
              <a:t>▎性能测试 (3000本书 / 500用户规模)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1728000"/>
            <a:ext cx="50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/</a:t>
            </a:r>
            <a:r>
              <a:rPr dirty="0" err="1"/>
              <a:t>api</a:t>
            </a:r>
            <a:r>
              <a:rPr dirty="0"/>
              <a:t>/book/</a:t>
            </a:r>
            <a:r>
              <a:rPr dirty="0" err="1"/>
              <a:t>page?page</a:t>
            </a:r>
            <a:r>
              <a:rPr dirty="0"/>
              <a:t>=1&amp;pageSize=20    ~350ms (150x)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/</a:t>
            </a:r>
            <a:r>
              <a:rPr dirty="0" err="1"/>
              <a:t>api</a:t>
            </a:r>
            <a:r>
              <a:rPr dirty="0"/>
              <a:t>/user/</a:t>
            </a:r>
            <a:r>
              <a:rPr dirty="0" err="1"/>
              <a:t>page?page</a:t>
            </a:r>
            <a:r>
              <a:rPr dirty="0"/>
              <a:t>=1&amp;pageSize=20    ~200ms (25x)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/</a:t>
            </a:r>
            <a:r>
              <a:rPr dirty="0" err="1"/>
              <a:t>api</a:t>
            </a:r>
            <a:r>
              <a:rPr dirty="0"/>
              <a:t>/borrow/</a:t>
            </a:r>
            <a:r>
              <a:rPr dirty="0" err="1"/>
              <a:t>page?page</a:t>
            </a:r>
            <a:r>
              <a:rPr dirty="0"/>
              <a:t>=1&amp;pageSize=20  ~400ms (30x)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/</a:t>
            </a:r>
            <a:r>
              <a:rPr dirty="0" err="1"/>
              <a:t>api</a:t>
            </a:r>
            <a:r>
              <a:rPr dirty="0"/>
              <a:t>/audit/</a:t>
            </a:r>
            <a:r>
              <a:rPr dirty="0" err="1"/>
              <a:t>page?page</a:t>
            </a:r>
            <a:r>
              <a:rPr dirty="0"/>
              <a:t>=1&amp;pageSize=20   ~300ms (30x)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前端首屏加载</a:t>
            </a:r>
            <a:r>
              <a:rPr dirty="0"/>
              <a:t> &lt;3s | 分页渲染20条即时响应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浏览器内存占用稳定</a:t>
            </a:r>
            <a:r>
              <a:rPr dirty="0"/>
              <a:t>, </a:t>
            </a:r>
            <a:r>
              <a:rPr dirty="0" err="1"/>
              <a:t>无内存泄漏问题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300000" y="4320000"/>
            <a:ext cx="5040000" cy="18000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0000" y="4428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A169"/>
                </a:solidFill>
                <a:latin typeface="Microsoft YaHei"/>
              </a:defRPr>
            </a:pPr>
            <a:r>
              <a:t>测试结论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0" y="4788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/>
              <a:t>12项功能测试全部通过 (100%)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所有分页API响应时间</a:t>
            </a:r>
            <a:r>
              <a:rPr dirty="0"/>
              <a:t> &lt;500ms</a:t>
            </a:r>
          </a:p>
          <a:p>
            <a:pPr>
              <a:spcAft>
                <a:spcPts val="600"/>
              </a:spcAft>
              <a:defRPr sz="1300">
                <a:solidFill>
                  <a:srgbClr val="1A202C"/>
                </a:solidFill>
                <a:latin typeface="Microsoft YaHei"/>
              </a:defRPr>
            </a:pPr>
            <a:r>
              <a:rPr dirty="0" err="1"/>
              <a:t>满足课程设计全部性能指标要求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000" y="432000"/>
            <a:ext cx="108000" cy="43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7999" y="396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08  项目总结与展望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999" y="864000"/>
            <a:ext cx="10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Microsoft YaHei"/>
              </a:defRPr>
            </a:pPr>
            <a:r>
              <a:t>SUMMARY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16000"/>
            <a:ext cx="10980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999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6CB0"/>
                </a:solidFill>
                <a:latin typeface="Microsoft YaHei"/>
              </a:defRPr>
            </a:pPr>
            <a:r>
              <a:t>▎项目成果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999" y="1728000"/>
            <a:ext cx="50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✅ 7张数据库表, 500用户/3000图书/600借阅记录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✅ 44个RESTful API, 覆盖全部CRUD+批量+分页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✅ 13个Vue页面, 含管理端(7模块)+用户端(3模块)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✅ 12项功能测试全部通过, 性能测试达标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✅ 课程报告26,000字 + 答辩PPT 16页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✅ 完整经历:需求→设计→编码→测试→文档 全流程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1368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A169"/>
                </a:solidFill>
                <a:latin typeface="Microsoft YaHei"/>
              </a:defRPr>
            </a:pPr>
            <a:r>
              <a:t>▎技术收获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1728000"/>
            <a:ext cx="50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前后端分离架构的完整开发与部署流程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Spring Boot 四层分层 + MyBatis动态SQL实战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Vue 3 Composition API + Element Plus组件库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JWT认证 + 拦截器 + CORS跨域安全方案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MySQL建模(外键/自引用/索引) + 性能优化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Microsoft YaHei"/>
              </a:defRPr>
            </a:pPr>
            <a:r>
              <a:t>• 团队协作 (Git + 任务分配 + Code Review)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999" y="486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69E2E"/>
                </a:solidFill>
                <a:latin typeface="Microsoft YaHei"/>
              </a:defRPr>
            </a:pPr>
            <a:r>
              <a:t>▎未来展望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999" y="522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Microsoft YaHei"/>
              </a:defRPr>
            </a:pPr>
            <a:r>
              <a:t>H5移动端 / 微信小程序  |  扫码枪借还  |  图书预约排队  |  读者信用评分  |  ECharts数据可视化  |  开放API对接校园一卡通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80000" y="-720000"/>
            <a:ext cx="3600000" cy="3600000"/>
          </a:xfrm>
          <a:prstGeom prst="roundRect">
            <a:avLst/>
          </a:prstGeom>
          <a:solidFill>
            <a:srgbClr val="3D6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080000" y="4680000"/>
            <a:ext cx="2880000" cy="28800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000" y="16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70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Microsoft YaHei"/>
              </a:defRPr>
            </a:pPr>
            <a:r>
              <a:t>THANKS FOR LISTENING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0000" y="3348000"/>
            <a:ext cx="2880000" cy="25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0000" y="37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AD8"/>
                </a:solidFill>
                <a:latin typeface="Microsoft YaHei"/>
              </a:defRPr>
            </a:pPr>
            <a:r>
              <a:t>个人图书借阅管理系统</a:t>
            </a:r>
            <a:br/>
            <a:r>
              <a:t>基于 Vue 3 + Spring Boot 的前后端分离 Web 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0" y="6480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8096"/>
                </a:solidFill>
                <a:latin typeface="Microsoft YaHe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1791</Words>
  <Application>Microsoft Office PowerPoint</Application>
  <PresentationFormat>宽屏</PresentationFormat>
  <Paragraphs>289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zexu jiang</cp:lastModifiedBy>
  <cp:revision>6</cp:revision>
  <dcterms:created xsi:type="dcterms:W3CDTF">2013-01-27T09:14:16Z</dcterms:created>
  <dcterms:modified xsi:type="dcterms:W3CDTF">2026-06-23T01:35:55Z</dcterms:modified>
  <cp:category/>
</cp:coreProperties>
</file>